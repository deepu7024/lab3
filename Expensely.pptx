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0233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548640"/>
            <a:ext cx="3108960" cy="3108960"/>
          </a:xfrm>
          <a:prstGeom prst="ellipse">
            <a:avLst/>
          </a:prstGeom>
          <a:solidFill>
            <a:srgbClr val="176B87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EXPENSE TRACKER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173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Expensely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E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email in. Ledger entry out.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skipped, nothing double-counted. Real accounting underneath your bank’s own alert emails — accounts, pools, splits, and a budget you can actually see coming.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743200" cy="1417320"/>
          </a:xfrm>
          <a:prstGeom prst="roundRect">
            <a:avLst>
              <a:gd name="adj" fmla="val 5806"/>
            </a:avLst>
          </a:prstGeom>
          <a:solidFill>
            <a:srgbClr val="10233F"/>
          </a:solidFill>
          <a:ln w="9525">
            <a:solidFill>
              <a:srgbClr val="176B8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456285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5212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kinds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split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4434840"/>
            <a:ext cx="2743200" cy="1417320"/>
          </a:xfrm>
          <a:prstGeom prst="roundRect">
            <a:avLst>
              <a:gd name="adj" fmla="val 5806"/>
            </a:avLst>
          </a:prstGeom>
          <a:solidFill>
            <a:srgbClr val="10233F"/>
          </a:solidFill>
          <a:ln w="9525">
            <a:solidFill>
              <a:srgbClr val="176B8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0" y="456285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5212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agent,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your senders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4434840"/>
            <a:ext cx="2743200" cy="1417320"/>
          </a:xfrm>
          <a:prstGeom prst="roundRect">
            <a:avLst>
              <a:gd name="adj" fmla="val 5806"/>
            </a:avLst>
          </a:prstGeom>
          <a:solidFill>
            <a:srgbClr val="10233F"/>
          </a:solidFill>
          <a:ln w="9525">
            <a:solidFill>
              <a:srgbClr val="176B8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78040" y="456285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5212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 per account,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to name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 · Tailwind  —  FastAPI · SQLModel · Postgres  —  Gemini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starts reading your inbox for you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(Gemini) reads only the messages from your configured senders — never your whole inbox — and extracts the merchant, amount, and category straight into your ledger.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76656" y="23317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1620" y="2514600"/>
            <a:ext cx="621792" cy="621792"/>
          </a:xfrm>
          <a:prstGeom prst="ellipse">
            <a:avLst/>
          </a:prstGeom>
          <a:solidFill>
            <a:srgbClr val="176B87"/>
          </a:solidFill>
          <a:ln/>
        </p:spPr>
      </p:sp>
      <p:pic>
        <p:nvPicPr>
          <p:cNvPr id="7" name="Image 0" descr="/home/claude/expensely/icons/inbox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924" y="2660904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8096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inbox</a:t>
            </a:r>
            <a:endParaRPr lang="en-US" sz="1150" dirty="0"/>
          </a:p>
        </p:txBody>
      </p:sp>
      <p:pic>
        <p:nvPicPr>
          <p:cNvPr id="9" name="Image 1" descr="/home/claude/expensely/icons/arrowRight_176B8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862072"/>
            <a:ext cx="36576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11296" y="23317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66260" y="2514600"/>
            <a:ext cx="621792" cy="621792"/>
          </a:xfrm>
          <a:prstGeom prst="ellipse">
            <a:avLst/>
          </a:prstGeom>
          <a:solidFill>
            <a:srgbClr val="176B87"/>
          </a:solidFill>
          <a:ln/>
        </p:spPr>
      </p:sp>
      <p:pic>
        <p:nvPicPr>
          <p:cNvPr id="12" name="Image 2" descr="/home/claude/expensely/icons/filt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564" y="2660904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602736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senders only</a:t>
            </a:r>
            <a:endParaRPr lang="en-US" sz="1150" dirty="0"/>
          </a:p>
        </p:txBody>
      </p:sp>
      <p:pic>
        <p:nvPicPr>
          <p:cNvPr id="14" name="Image 3" descr="/home/claude/expensely/icons/arrowRight_176B8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862072"/>
            <a:ext cx="365760" cy="36576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345936" y="23317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7200900" y="2514600"/>
            <a:ext cx="621792" cy="621792"/>
          </a:xfrm>
          <a:prstGeom prst="ellipse">
            <a:avLst/>
          </a:prstGeom>
          <a:solidFill>
            <a:srgbClr val="3ECF8E"/>
          </a:solidFill>
          <a:ln/>
        </p:spPr>
      </p:sp>
      <p:pic>
        <p:nvPicPr>
          <p:cNvPr id="17" name="Image 4" descr="/home/claude/expensely/icons/cpu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7204" y="2660904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437376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reads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classifies</a:t>
            </a:r>
            <a:endParaRPr lang="en-US" sz="1150" dirty="0"/>
          </a:p>
        </p:txBody>
      </p:sp>
      <p:pic>
        <p:nvPicPr>
          <p:cNvPr id="19" name="Image 5" descr="/home/claude/expensely/icons/arrowRight_176B8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2862072"/>
            <a:ext cx="365760" cy="3657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9180576" y="23317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10035540" y="2514600"/>
            <a:ext cx="621792" cy="621792"/>
          </a:xfrm>
          <a:prstGeom prst="ellipse">
            <a:avLst/>
          </a:prstGeom>
          <a:solidFill>
            <a:srgbClr val="176B87"/>
          </a:solidFill>
          <a:ln/>
        </p:spPr>
      </p:sp>
      <p:pic>
        <p:nvPicPr>
          <p:cNvPr id="22" name="Image 6" descr="/home/claude/expensely/icons/checkCircl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1844" y="2660904"/>
            <a:ext cx="329184" cy="32918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9272016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</a:t>
            </a:r>
            <a:endParaRPr lang="en-US" sz="1150" dirty="0"/>
          </a:p>
        </p:txBody>
      </p:sp>
      <p:sp>
        <p:nvSpPr>
          <p:cNvPr id="24" name="Shape 15"/>
          <p:cNvSpPr/>
          <p:nvPr/>
        </p:nvSpPr>
        <p:spPr>
          <a:xfrm>
            <a:off x="594360" y="4251960"/>
            <a:ext cx="502920" cy="502920"/>
          </a:xfrm>
          <a:prstGeom prst="ellipse">
            <a:avLst/>
          </a:prstGeom>
          <a:solidFill>
            <a:srgbClr val="10233F"/>
          </a:solidFill>
          <a:ln/>
        </p:spPr>
      </p:sp>
      <p:pic>
        <p:nvPicPr>
          <p:cNvPr id="25" name="Image 7" descr="/home/claude/expensely/icons/shield_3ECF8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370832"/>
            <a:ext cx="265176" cy="265176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594360" y="4873752"/>
            <a:ext cx="25100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by design</a:t>
            </a:r>
            <a:endParaRPr lang="en-US" sz="1300" dirty="0"/>
          </a:p>
        </p:txBody>
      </p:sp>
      <p:sp>
        <p:nvSpPr>
          <p:cNvPr id="27" name="Text 17"/>
          <p:cNvSpPr txBox="1"/>
          <p:nvPr/>
        </p:nvSpPr>
        <p:spPr>
          <a:xfrm>
            <a:off x="594360" y="5166360"/>
            <a:ext cx="25100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Gmail search itself is built from your configured sender addresses, not a blanket inbox read.</a:t>
            </a:r>
            <a:endParaRPr lang="en-US" sz="1050" dirty="0"/>
          </a:p>
        </p:txBody>
      </p:sp>
      <p:sp>
        <p:nvSpPr>
          <p:cNvPr id="28" name="Shape 18"/>
          <p:cNvSpPr/>
          <p:nvPr/>
        </p:nvSpPr>
        <p:spPr>
          <a:xfrm>
            <a:off x="3424428" y="4251960"/>
            <a:ext cx="502920" cy="502920"/>
          </a:xfrm>
          <a:prstGeom prst="ellipse">
            <a:avLst/>
          </a:prstGeom>
          <a:solidFill>
            <a:srgbClr val="10233F"/>
          </a:solidFill>
          <a:ln/>
        </p:spPr>
      </p:sp>
      <p:pic>
        <p:nvPicPr>
          <p:cNvPr id="29" name="Image 8" descr="/home/claude/expensely/icons/refreshCw_3ECF8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3300" y="4370832"/>
            <a:ext cx="265176" cy="265176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3424428" y="4873752"/>
            <a:ext cx="25100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1300" dirty="0"/>
          </a:p>
        </p:txBody>
      </p:sp>
      <p:sp>
        <p:nvSpPr>
          <p:cNvPr id="31" name="Text 20"/>
          <p:cNvSpPr txBox="1"/>
          <p:nvPr/>
        </p:nvSpPr>
        <p:spPr>
          <a:xfrm>
            <a:off x="3424428" y="5166360"/>
            <a:ext cx="25100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processed email is tracked, so re-running a sync never creates a duplicate entry.</a:t>
            </a:r>
            <a:endParaRPr lang="en-US" sz="1050" dirty="0"/>
          </a:p>
        </p:txBody>
      </p:sp>
      <p:sp>
        <p:nvSpPr>
          <p:cNvPr id="32" name="Shape 21"/>
          <p:cNvSpPr/>
          <p:nvPr/>
        </p:nvSpPr>
        <p:spPr>
          <a:xfrm>
            <a:off x="6254496" y="4251960"/>
            <a:ext cx="502920" cy="502920"/>
          </a:xfrm>
          <a:prstGeom prst="ellipse">
            <a:avLst/>
          </a:prstGeom>
          <a:solidFill>
            <a:srgbClr val="10233F"/>
          </a:solidFill>
          <a:ln/>
        </p:spPr>
      </p:sp>
      <p:pic>
        <p:nvPicPr>
          <p:cNvPr id="33" name="Image 9" descr="/home/claude/expensely/icons/alertCircle_3ECF8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3368" y="4370832"/>
            <a:ext cx="265176" cy="265176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6254496" y="4873752"/>
            <a:ext cx="25100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don’t vanish</a:t>
            </a:r>
            <a:endParaRPr lang="en-US" sz="1300" dirty="0"/>
          </a:p>
        </p:txBody>
      </p:sp>
      <p:sp>
        <p:nvSpPr>
          <p:cNvPr id="35" name="Text 23"/>
          <p:cNvSpPr txBox="1"/>
          <p:nvPr/>
        </p:nvSpPr>
        <p:spPr>
          <a:xfrm>
            <a:off x="6254496" y="5166360"/>
            <a:ext cx="25100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partial sync failure surfaces as its own toast instead of quietly dropping an email.</a:t>
            </a:r>
            <a:endParaRPr lang="en-US" sz="1050" dirty="0"/>
          </a:p>
        </p:txBody>
      </p:sp>
      <p:sp>
        <p:nvSpPr>
          <p:cNvPr id="36" name="Shape 24"/>
          <p:cNvSpPr/>
          <p:nvPr/>
        </p:nvSpPr>
        <p:spPr>
          <a:xfrm>
            <a:off x="9084564" y="4251960"/>
            <a:ext cx="502920" cy="502920"/>
          </a:xfrm>
          <a:prstGeom prst="ellipse">
            <a:avLst/>
          </a:prstGeom>
          <a:solidFill>
            <a:srgbClr val="10233F"/>
          </a:solidFill>
          <a:ln/>
        </p:spPr>
      </p:sp>
      <p:pic>
        <p:nvPicPr>
          <p:cNvPr id="37" name="Image 10" descr="/home/claude/expensely/icons/flag_3ECF8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3436" y="4370832"/>
            <a:ext cx="265176" cy="26517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9084564" y="4873752"/>
            <a:ext cx="25100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Missing</a:t>
            </a:r>
            <a:endParaRPr lang="en-US" sz="1300" dirty="0"/>
          </a:p>
        </p:txBody>
      </p:sp>
      <p:sp>
        <p:nvSpPr>
          <p:cNvPr id="39" name="Text 26"/>
          <p:cNvSpPr txBox="1"/>
          <p:nvPr/>
        </p:nvSpPr>
        <p:spPr>
          <a:xfrm>
            <a:off x="9084564" y="5166360"/>
            <a:ext cx="25100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anything the sync missed, with an inline “add this sender” fix right there.</a:t>
            </a:r>
            <a:endParaRPr lang="en-US" sz="1050" dirty="0"/>
          </a:p>
        </p:txBody>
      </p:sp>
      <p:sp>
        <p:nvSpPr>
          <p:cNvPr id="40" name="Text 2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dashboard, every account,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its own pools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05740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as many bank accounts as you actually have. Each keeps a live balance, a minimum-balance reserve that’s never counted as spendable, and its own set of pools — Personal is permanent, Business and Savings are there if you want them, or name your own.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3337560"/>
            <a:ext cx="457200" cy="457200"/>
          </a:xfrm>
          <a:prstGeom prst="ellipse">
            <a:avLst/>
          </a:prstGeom>
          <a:solidFill>
            <a:srgbClr val="176B87"/>
          </a:solidFill>
          <a:ln/>
        </p:spPr>
      </p:sp>
      <p:pic>
        <p:nvPicPr>
          <p:cNvPr id="6" name="Image 0" descr="/home/claude/expensely/icons/lay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34472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3319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or single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361188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every account together, or filter the dashboard and transaction list down to one.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4087368"/>
            <a:ext cx="457200" cy="457200"/>
          </a:xfrm>
          <a:prstGeom prst="ellipse">
            <a:avLst/>
          </a:prstGeom>
          <a:solidFill>
            <a:srgbClr val="176B87"/>
          </a:solidFill>
          <a:ln/>
        </p:spPr>
      </p:sp>
      <p:pic>
        <p:nvPicPr>
          <p:cNvPr id="10" name="Image 1" descr="/home/claude/expensely/icons/doll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19709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built in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436168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permanent Cash account catches manual entries and anything that didn’t match a sender.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94360" y="4837176"/>
            <a:ext cx="457200" cy="457200"/>
          </a:xfrm>
          <a:prstGeom prst="ellipse">
            <a:avLst/>
          </a:prstGeom>
          <a:solidFill>
            <a:srgbClr val="176B87"/>
          </a:solidFill>
          <a:ln/>
        </p:spPr>
      </p:sp>
      <p:pic>
        <p:nvPicPr>
          <p:cNvPr id="14" name="Image 2" descr="/home/claude/expensely/icons/archiv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94690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4818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Accounts archive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234440" y="5111496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an account keeps its history intact and viewable, without mixing into live totals.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94360" y="5586984"/>
            <a:ext cx="457200" cy="457200"/>
          </a:xfrm>
          <a:prstGeom prst="ellipse">
            <a:avLst/>
          </a:prstGeom>
          <a:solidFill>
            <a:srgbClr val="176B87"/>
          </a:solidFill>
          <a:ln/>
        </p:spPr>
      </p:sp>
      <p:pic>
        <p:nvPicPr>
          <p:cNvPr id="18" name="Image 3" descr="/home/claude/expensely/icons/trendingU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569671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55686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balance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234440" y="5861304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shows exactly what the account looked like right after it.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360920" y="822960"/>
            <a:ext cx="4251960" cy="1234440"/>
          </a:xfrm>
          <a:prstGeom prst="roundRect">
            <a:avLst>
              <a:gd name="adj" fmla="val 6667"/>
            </a:avLst>
          </a:prstGeom>
          <a:solidFill>
            <a:srgbClr val="10233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589520" y="1051560"/>
            <a:ext cx="82296" cy="777240"/>
          </a:xfrm>
          <a:prstGeom prst="roundRect">
            <a:avLst/>
          </a:prstGeom>
          <a:solidFill>
            <a:srgbClr val="176B87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781812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7818120" y="1298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6B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$4,215.30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781812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Pools: Personal · Business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360920" y="2240280"/>
            <a:ext cx="4251960" cy="1234440"/>
          </a:xfrm>
          <a:prstGeom prst="roundRect">
            <a:avLst>
              <a:gd name="adj" fmla="val 6667"/>
            </a:avLst>
          </a:prstGeom>
          <a:solidFill>
            <a:srgbClr val="10233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589520" y="2468880"/>
            <a:ext cx="82296" cy="777240"/>
          </a:xfrm>
          <a:prstGeom prst="roundRect">
            <a:avLst/>
          </a:prstGeom>
          <a:solidFill>
            <a:srgbClr val="3ECF8E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81812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7818120" y="2715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$12,040.00</a:t>
            </a:r>
            <a:endParaRPr lang="en-US" sz="2000" dirty="0"/>
          </a:p>
        </p:txBody>
      </p:sp>
      <p:sp>
        <p:nvSpPr>
          <p:cNvPr id="30" name="Text 24"/>
          <p:cNvSpPr txBox="1"/>
          <p:nvPr/>
        </p:nvSpPr>
        <p:spPr>
          <a:xfrm>
            <a:off x="781812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Pools: Savings · Personal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360920" y="3657600"/>
            <a:ext cx="4251960" cy="1234440"/>
          </a:xfrm>
          <a:prstGeom prst="roundRect">
            <a:avLst>
              <a:gd name="adj" fmla="val 6667"/>
            </a:avLst>
          </a:prstGeom>
          <a:solidFill>
            <a:srgbClr val="10233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589520" y="3886200"/>
            <a:ext cx="82296" cy="777240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781812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7818120" y="4133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$180.00</a:t>
            </a:r>
            <a:endParaRPr lang="en-US" sz="2000" dirty="0"/>
          </a:p>
        </p:txBody>
      </p:sp>
      <p:sp>
        <p:nvSpPr>
          <p:cNvPr id="35" name="Text 29"/>
          <p:cNvSpPr txBox="1"/>
          <p:nvPr/>
        </p:nvSpPr>
        <p:spPr>
          <a:xfrm>
            <a:off x="7818120" y="4526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Pools: Personal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transaction, exactly as it happened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bill and a lump-sum deposit raise two different questions — so they get two different, independent answers. Neither one touches what actually moved in the bank.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101600" dist="38100" dir="5400000">
              <a:srgbClr val="10233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60320"/>
            <a:ext cx="548640" cy="548640"/>
          </a:xfrm>
          <a:prstGeom prst="ellipse">
            <a:avLst/>
          </a:prstGeom>
          <a:solidFill>
            <a:srgbClr val="176B87"/>
          </a:solidFill>
          <a:ln/>
        </p:spPr>
      </p:sp>
      <p:pic>
        <p:nvPicPr>
          <p:cNvPr id="7" name="Image 0" descr="/home/claude/expensely/icons/gitBran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6883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5877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split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9077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7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Shared-expense share — yours vs. someone else’s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3375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a transaction is actually yours. Doesn’t touch what moved in the bank.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228600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101600" dist="38100" dir="5400000">
              <a:srgbClr val="10233F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2560320"/>
            <a:ext cx="548640" cy="548640"/>
          </a:xfrm>
          <a:prstGeom prst="ellipse">
            <a:avLst/>
          </a:prstGeom>
          <a:solidFill>
            <a:srgbClr val="3ECF8E"/>
          </a:solidFill>
          <a:ln/>
        </p:spPr>
      </p:sp>
      <p:pic>
        <p:nvPicPr>
          <p:cNvPr id="13" name="Image 1" descr="/home/claude/expensely/icons/divid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268833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32320" y="25877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allocation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132320" y="29077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amount, split across your own pools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0" y="33375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transaction’s amount divides across Personal, Business, Savings, or custom pools.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94360" y="4389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— both can apply to the same transaction at once.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94360" y="5074920"/>
            <a:ext cx="457200" cy="457200"/>
          </a:xfrm>
          <a:prstGeom prst="ellipse">
            <a:avLst/>
          </a:prstGeom>
          <a:solidFill>
            <a:srgbClr val="10233F"/>
          </a:solidFill>
          <a:ln/>
        </p:spPr>
      </p:sp>
      <p:pic>
        <p:nvPicPr>
          <p:cNvPr id="19" name="Image 2" descr="/home/claude/expensely/icons/move_3ECF8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518464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8720" y="5056632"/>
            <a:ext cx="2828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Actions menu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594360" y="5641848"/>
            <a:ext cx="342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Split, allocate, or move to a pool from a single control.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383024" y="5074920"/>
            <a:ext cx="457200" cy="457200"/>
          </a:xfrm>
          <a:prstGeom prst="ellipse">
            <a:avLst/>
          </a:prstGeom>
          <a:solidFill>
            <a:srgbClr val="10233F"/>
          </a:solidFill>
          <a:ln/>
        </p:spPr>
      </p:sp>
      <p:pic>
        <p:nvPicPr>
          <p:cNvPr id="23" name="Image 3" descr="/home/claude/expensely/icons/calendar_3ECF8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2752" y="518464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977384" y="5056632"/>
            <a:ext cx="2828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Spent-on override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4383024" y="5641848"/>
            <a:ext cx="342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different spend day for budgeting — the real timestamp is untouched.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171688" y="5074920"/>
            <a:ext cx="457200" cy="457200"/>
          </a:xfrm>
          <a:prstGeom prst="ellipse">
            <a:avLst/>
          </a:prstGeom>
          <a:solidFill>
            <a:srgbClr val="10233F"/>
          </a:solidFill>
          <a:ln/>
        </p:spPr>
      </p:sp>
      <p:pic>
        <p:nvPicPr>
          <p:cNvPr id="27" name="Image 4" descr="/home/claude/expensely/icons/messageSquare_3ECF8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1416" y="518464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766048" y="5056632"/>
            <a:ext cx="2828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8171688" y="5641848"/>
            <a:ext cx="342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free-text note on any transaction, or on the day itself.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budget you can actually see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36192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monthly budget once. It’s measured live against Personal-pool spend and follows you everywhere — sidebar, dashboard, and a dedicated day-by-day breakdown.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514600"/>
            <a:ext cx="6309360" cy="1554480"/>
          </a:xfrm>
          <a:prstGeom prst="roundRect">
            <a:avLst>
              <a:gd name="adj" fmla="val 5294"/>
            </a:avLst>
          </a:prstGeom>
          <a:solidFill>
            <a:srgbClr val="10233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679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Budget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53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$1,840 / $2,500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3447288"/>
            <a:ext cx="5760720" cy="201168"/>
          </a:xfrm>
          <a:prstGeom prst="roundRect">
            <a:avLst>
              <a:gd name="adj" fmla="val 50000"/>
            </a:avLst>
          </a:prstGeom>
          <a:solidFill>
            <a:srgbClr val="24405F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447288"/>
            <a:ext cx="4239890" cy="201168"/>
          </a:xfrm>
          <a:prstGeom prst="roundRect">
            <a:avLst>
              <a:gd name="adj" fmla="val 50000"/>
            </a:avLst>
          </a:prstGeom>
          <a:solidFill>
            <a:srgbClr val="3ECF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72160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73.6% of budget used — 12 days left in the month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434840"/>
            <a:ext cx="457200" cy="457200"/>
          </a:xfrm>
          <a:prstGeom prst="ellipse">
            <a:avLst/>
          </a:prstGeom>
          <a:solidFill>
            <a:srgbClr val="176B87"/>
          </a:solidFill>
          <a:ln/>
        </p:spPr>
      </p:sp>
      <p:pic>
        <p:nvPicPr>
          <p:cNvPr id="12" name="Image 0" descr="/home/claude/expensely/icons/ey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544568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234440" y="4416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visible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4709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color-coded budget widget lives in the sidebar on every page.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4360" y="5212080"/>
            <a:ext cx="457200" cy="457200"/>
          </a:xfrm>
          <a:prstGeom prst="ellipse">
            <a:avLst/>
          </a:prstGeom>
          <a:solidFill>
            <a:srgbClr val="176B87"/>
          </a:solidFill>
          <a:ln/>
        </p:spPr>
      </p:sp>
      <p:pic>
        <p:nvPicPr>
          <p:cNvPr id="16" name="Image 1" descr="/home/claude/expensely/icons/bar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32180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34440" y="51937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vs. average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234440" y="54864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spend compared against what’s left of the month.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7452360" y="12344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by category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45236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Groceries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9006840" y="1719072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24405F"/>
          </a:solidFill>
          <a:ln/>
        </p:spPr>
      </p:sp>
      <p:sp>
        <p:nvSpPr>
          <p:cNvPr id="22" name="Shape 18"/>
          <p:cNvSpPr/>
          <p:nvPr/>
        </p:nvSpPr>
        <p:spPr>
          <a:xfrm>
            <a:off x="9006840" y="1719072"/>
            <a:ext cx="2136953" cy="182880"/>
          </a:xfrm>
          <a:prstGeom prst="roundRect">
            <a:avLst>
              <a:gd name="adj" fmla="val 50000"/>
            </a:avLst>
          </a:prstGeom>
          <a:solidFill>
            <a:srgbClr val="3ECF8E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452360" y="2130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9006840" y="2157984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24405F"/>
          </a:solidFill>
          <a:ln/>
        </p:spPr>
      </p:sp>
      <p:sp>
        <p:nvSpPr>
          <p:cNvPr id="25" name="Shape 21"/>
          <p:cNvSpPr/>
          <p:nvPr/>
        </p:nvSpPr>
        <p:spPr>
          <a:xfrm>
            <a:off x="9006840" y="2157984"/>
            <a:ext cx="1511503" cy="182880"/>
          </a:xfrm>
          <a:prstGeom prst="roundRect">
            <a:avLst>
              <a:gd name="adj" fmla="val 50000"/>
            </a:avLst>
          </a:prstGeom>
          <a:solidFill>
            <a:srgbClr val="176B87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452360" y="2569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9006840" y="2596896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24405F"/>
          </a:solidFill>
          <a:ln/>
        </p:spPr>
      </p:sp>
      <p:sp>
        <p:nvSpPr>
          <p:cNvPr id="28" name="Shape 24"/>
          <p:cNvSpPr/>
          <p:nvPr/>
        </p:nvSpPr>
        <p:spPr>
          <a:xfrm>
            <a:off x="9006840" y="2596896"/>
            <a:ext cx="1068476" cy="18288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452360" y="3008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9006840" y="3035808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24405F"/>
          </a:solidFill>
          <a:ln/>
        </p:spPr>
      </p:sp>
      <p:sp>
        <p:nvSpPr>
          <p:cNvPr id="31" name="Shape 27"/>
          <p:cNvSpPr/>
          <p:nvPr/>
        </p:nvSpPr>
        <p:spPr>
          <a:xfrm>
            <a:off x="9006840" y="3035808"/>
            <a:ext cx="703631" cy="182880"/>
          </a:xfrm>
          <a:prstGeom prst="roundRect">
            <a:avLst>
              <a:gd name="adj" fmla="val 50000"/>
            </a:avLst>
          </a:prstGeom>
          <a:solidFill>
            <a:srgbClr val="AEC0D6"/>
          </a:solidFill>
          <a:ln/>
        </p:spPr>
      </p:sp>
      <p:sp>
        <p:nvSpPr>
          <p:cNvPr id="32" name="Shape 28"/>
          <p:cNvSpPr/>
          <p:nvPr/>
        </p:nvSpPr>
        <p:spPr>
          <a:xfrm>
            <a:off x="7452360" y="3584448"/>
            <a:ext cx="4160520" cy="1417320"/>
          </a:xfrm>
          <a:prstGeom prst="roundRect">
            <a:avLst>
              <a:gd name="adj" fmla="val 5806"/>
            </a:avLst>
          </a:prstGeom>
          <a:solidFill>
            <a:srgbClr val="10233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680960" y="3813048"/>
            <a:ext cx="502920" cy="502920"/>
          </a:xfrm>
          <a:prstGeom prst="ellipse">
            <a:avLst/>
          </a:prstGeom>
          <a:solidFill>
            <a:srgbClr val="3ECF8E"/>
          </a:solidFill>
          <a:ln/>
        </p:spPr>
      </p:sp>
      <p:pic>
        <p:nvPicPr>
          <p:cNvPr id="34" name="Image 2" descr="/home/claude/expensely/icons/target_0D1B2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2" y="3931920"/>
            <a:ext cx="265176" cy="265176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366760" y="383133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Spend by day</a:t>
            </a:r>
            <a:endParaRPr lang="en-US" sz="1250" dirty="0"/>
          </a:p>
        </p:txBody>
      </p:sp>
      <p:sp>
        <p:nvSpPr>
          <p:cNvPr id="36" name="Text 31"/>
          <p:cNvSpPr txBox="1"/>
          <p:nvPr/>
        </p:nvSpPr>
        <p:spPr>
          <a:xfrm>
            <a:off x="7680960" y="427024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page: every day collapsible, its own note, each transaction’s own note.</a:t>
            </a:r>
            <a:endParaRPr lang="en-US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not get in your way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parts nobody asks for by name are the ones that make the rest trustworthy: nothing fails silently, nothing blocks the page, and nothing assumes you’ll never need it explained to a screen reader.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3422904" cy="180594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023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32888"/>
            <a:ext cx="502920" cy="502920"/>
          </a:xfrm>
          <a:prstGeom prst="ellipse">
            <a:avLst/>
          </a:prstGeom>
          <a:solidFill>
            <a:srgbClr val="10233F"/>
          </a:solidFill>
          <a:ln/>
        </p:spPr>
      </p:sp>
      <p:pic>
        <p:nvPicPr>
          <p:cNvPr id="7" name="Image 0" descr="/home/claude/expensely/icons/loader_3ECF8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651760"/>
            <a:ext cx="265176" cy="2651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172968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loading states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02152"/>
            <a:ext cx="296570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Skeletons that mirror the actual layout, not a generic spinner.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3024" y="2331720"/>
            <a:ext cx="3422904" cy="180594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0233F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1624" y="2532888"/>
            <a:ext cx="502920" cy="502920"/>
          </a:xfrm>
          <a:prstGeom prst="ellipse">
            <a:avLst/>
          </a:prstGeom>
          <a:solidFill>
            <a:srgbClr val="10233F"/>
          </a:solidFill>
          <a:ln/>
        </p:spPr>
      </p:sp>
      <p:pic>
        <p:nvPicPr>
          <p:cNvPr id="12" name="Image 1" descr="/home/claude/expensely/icons/wifiOff_3ECF8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2651760"/>
            <a:ext cx="265176" cy="2651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1624" y="3172968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fallback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611624" y="3502152"/>
            <a:ext cx="296570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API’s unreachable, a clearly labeled sample dataset keeps the dashboard usable.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71688" y="2331720"/>
            <a:ext cx="3422904" cy="180594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0233F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00288" y="2532888"/>
            <a:ext cx="502920" cy="502920"/>
          </a:xfrm>
          <a:prstGeom prst="ellipse">
            <a:avLst/>
          </a:prstGeom>
          <a:solidFill>
            <a:srgbClr val="10233F"/>
          </a:solidFill>
          <a:ln/>
        </p:spPr>
      </p:sp>
      <p:pic>
        <p:nvPicPr>
          <p:cNvPr id="17" name="Image 2" descr="/home/claude/expensely/icons/chevronsDown_3ECF8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60" y="2651760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0288" y="3172968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Dropdowns that flip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400288" y="3502152"/>
            <a:ext cx="296570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menu near the bottom of a long table opens upward instead of breaking scroll.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94360" y="4457700"/>
            <a:ext cx="3422904" cy="180594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0233F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4658868"/>
            <a:ext cx="502920" cy="502920"/>
          </a:xfrm>
          <a:prstGeom prst="ellipse">
            <a:avLst/>
          </a:prstGeom>
          <a:solidFill>
            <a:srgbClr val="10233F"/>
          </a:solidFill>
          <a:ln/>
        </p:spPr>
      </p:sp>
      <p:pic>
        <p:nvPicPr>
          <p:cNvPr id="22" name="Image 3" descr="/home/claude/expensely/icons/volume_3ECF8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777740"/>
            <a:ext cx="265176" cy="26517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22960" y="5298948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by default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5628132"/>
            <a:ext cx="296570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Icon-only controls carry real labels for screen readers.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83024" y="4457700"/>
            <a:ext cx="3422904" cy="180594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0233F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11624" y="4658868"/>
            <a:ext cx="502920" cy="502920"/>
          </a:xfrm>
          <a:prstGeom prst="ellipse">
            <a:avLst/>
          </a:prstGeom>
          <a:solidFill>
            <a:srgbClr val="10233F"/>
          </a:solidFill>
          <a:ln/>
        </p:spPr>
      </p:sp>
      <p:pic>
        <p:nvPicPr>
          <p:cNvPr id="27" name="Image 4" descr="/home/claude/expensely/icons/lock_3ECF8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496" y="4777740"/>
            <a:ext cx="265176" cy="26517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611624" y="5298948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Escape-safe modals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4611624" y="5628132"/>
            <a:ext cx="296570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Modals close on Escape without eating an inline sub-form’s edit.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71688" y="4457700"/>
            <a:ext cx="3422904" cy="180594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0233F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00288" y="4658868"/>
            <a:ext cx="502920" cy="502920"/>
          </a:xfrm>
          <a:prstGeom prst="ellipse">
            <a:avLst/>
          </a:prstGeom>
          <a:solidFill>
            <a:srgbClr val="10233F"/>
          </a:solidFill>
          <a:ln/>
        </p:spPr>
      </p:sp>
      <p:pic>
        <p:nvPicPr>
          <p:cNvPr id="32" name="Image 5" descr="/home/claude/expensely/icons/bell_3ECF8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160" y="4777740"/>
            <a:ext cx="265176" cy="26517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400288" y="5298948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Below-minimum alerts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8400288" y="5628132"/>
            <a:ext cx="296570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balances are watched and flagged, not silently ignored.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REFERENCE · 1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feature, itemized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257800" cy="4709160"/>
          </a:xfrm>
          <a:prstGeom prst="roundRect">
            <a:avLst>
              <a:gd name="adj" fmla="val 1748"/>
            </a:avLst>
          </a:prstGeom>
          <a:solidFill>
            <a:srgbClr val="10233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3ECF8E"/>
          </a:solidFill>
          <a:ln/>
        </p:spPr>
      </p:sp>
      <p:pic>
        <p:nvPicPr>
          <p:cNvPr id="6" name="Image 0" descr="/home/claude/expensely/icons/mail_0D1B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84832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116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Mail sync &amp; capture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51760"/>
            <a:ext cx="4617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Gmail senders per account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Sender-scoped search query, not whole-inbox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extraction: merchant, amount, category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Duplicate-proof via processed-email tracking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Partial-failure toasts, retried next sync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Missing, with inline sender fix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4709160"/>
          </a:xfrm>
          <a:prstGeom prst="roundRect">
            <a:avLst>
              <a:gd name="adj" fmla="val 1748"/>
            </a:avLst>
          </a:prstGeom>
          <a:solidFill>
            <a:srgbClr val="10233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965960"/>
            <a:ext cx="502920" cy="502920"/>
          </a:xfrm>
          <a:prstGeom prst="ellipse">
            <a:avLst/>
          </a:prstGeom>
          <a:solidFill>
            <a:srgbClr val="3ECF8E"/>
          </a:solidFill>
          <a:ln/>
        </p:spPr>
      </p:sp>
      <p:pic>
        <p:nvPicPr>
          <p:cNvPr id="11" name="Image 1" descr="/home/claude/expensely/icons/layers_0D1B2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08483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20116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&amp; pools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651760"/>
            <a:ext cx="4617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bank accounts, each independently anchored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(permanent), Business, Savings, or custom pools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Minimum-balance reserve, excluded from every pool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Cash account for manual entries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Accounts archive — history kept, totals untouched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or single-account filtering, dashboard &amp; table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balance-after on every transaction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REFERENCE · 2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feature, itemized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257800" cy="4709160"/>
          </a:xfrm>
          <a:prstGeom prst="roundRect">
            <a:avLst>
              <a:gd name="adj" fmla="val 1748"/>
            </a:avLst>
          </a:prstGeom>
          <a:solidFill>
            <a:srgbClr val="10233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3ECF8E"/>
          </a:solidFill>
          <a:ln/>
        </p:spPr>
      </p:sp>
      <p:pic>
        <p:nvPicPr>
          <p:cNvPr id="6" name="Image 0" descr="/home/claude/expensely/icons/gitBranch_0D1B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84832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116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51760"/>
            <a:ext cx="4617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split — shared-expense share, doesn’t touch balance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allocation — one amount, split across pools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Actions menu (split / allocate / move pool)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category edit, with on-the-spot new categories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rename (merges) and delete (reassigns to Other)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Spend-day override, real timestamp untouched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Per-transaction and per-day free-text notes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cash-expense entry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4709160"/>
          </a:xfrm>
          <a:prstGeom prst="roundRect">
            <a:avLst>
              <a:gd name="adj" fmla="val 1748"/>
            </a:avLst>
          </a:prstGeom>
          <a:solidFill>
            <a:srgbClr val="10233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965960"/>
            <a:ext cx="502920" cy="502920"/>
          </a:xfrm>
          <a:prstGeom prst="ellipse">
            <a:avLst/>
          </a:prstGeom>
          <a:solidFill>
            <a:srgbClr val="3ECF8E"/>
          </a:solidFill>
          <a:ln/>
        </p:spPr>
      </p:sp>
      <p:pic>
        <p:nvPicPr>
          <p:cNvPr id="11" name="Image 1" descr="/home/claude/expensely/icons/pieChart_0D1B2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08483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20116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&amp; analytics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651760"/>
            <a:ext cx="4617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monthly budget threshold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budget widget, visible on every page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Spend vs. rolling daily average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Spend by day — dedicated page, per-day drill-down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Avg-per-day-remaining-in-month figure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pool breakdown analytics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REFERENCE · 3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last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25780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0233F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617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feedback on every save, sync, and failure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Layout-matched loading skeletons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offline/demo-data fallback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Viewport-aware dropdowns (flip upward near the bottom)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25780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0233F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629400" y="2011680"/>
            <a:ext cx="4617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aria-labeled icon-only controls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Escape-to-close modals, scoped correctly around sub-forms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Below-minimum-balance alerts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5029200"/>
            <a:ext cx="11000232" cy="1051560"/>
          </a:xfrm>
          <a:prstGeom prst="roundRect">
            <a:avLst>
              <a:gd name="adj" fmla="val 7826"/>
            </a:avLst>
          </a:prstGeom>
          <a:solidFill>
            <a:srgbClr val="1023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21208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504688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 · Tailwind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521208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5504688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SQLModel · Postgres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521208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247888" y="5504688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943600" cy="5943600"/>
          </a:xfrm>
          <a:prstGeom prst="ellipse">
            <a:avLst/>
          </a:prstGeom>
          <a:solidFill>
            <a:srgbClr val="10233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286000"/>
            <a:ext cx="5029200" cy="5029200"/>
          </a:xfrm>
          <a:prstGeom prst="ellipse">
            <a:avLst/>
          </a:prstGeom>
          <a:solidFill>
            <a:srgbClr val="176B87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EXPENSELY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skipped.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double-counted.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E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email in. Ledger entry out.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2026-09-08T06:28:55Z</dcterms:created>
  <dcterms:modified xsi:type="dcterms:W3CDTF">2026-09-08T06:28:55Z</dcterms:modified>
</cp:coreProperties>
</file>